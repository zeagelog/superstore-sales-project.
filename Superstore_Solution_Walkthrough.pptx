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0D8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8A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8A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8A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8A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8A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Office Machines</c:v>
                  </c:pt>
                  <c:pt idx="1">
                    <c:v>Binders &amp; Acc.</c:v>
                  </c:pt>
                  <c:pt idx="2">
                    <c:v>Telephones</c:v>
                  </c:pt>
                  <c:pt idx="3">
                    <c:v>Appliances</c:v>
                  </c:pt>
                  <c:pt idx="4">
                    <c:v>Computer Periph.</c:v>
                  </c:pt>
                  <c:pt idx="5">
                    <c:v>Rubber Bands</c:v>
                  </c:pt>
                  <c:pt idx="6">
                    <c:v>Scissors/Rulers</c:v>
                  </c:pt>
                  <c:pt idx="7">
                    <c:v>Storage &amp; Org.</c:v>
                  </c:pt>
                  <c:pt idx="8">
                    <c:v>Bookcases</c:v>
                  </c:pt>
                  <c:pt idx="9">
                    <c:v>Tables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180356</c:v>
                </c:pt>
                <c:pt idx="1">
                  <c:v>125811</c:v>
                </c:pt>
                <c:pt idx="2">
                  <c:v>120597</c:v>
                </c:pt>
                <c:pt idx="3">
                  <c:v>50096</c:v>
                </c:pt>
                <c:pt idx="4">
                  <c:v>45093</c:v>
                </c:pt>
                <c:pt idx="5">
                  <c:v>-354</c:v>
                </c:pt>
                <c:pt idx="6">
                  <c:v>-3331</c:v>
                </c:pt>
                <c:pt idx="7">
                  <c:v>-2087</c:v>
                </c:pt>
                <c:pt idx="8">
                  <c:v>-9306</c:v>
                </c:pt>
                <c:pt idx="9">
                  <c:v>-35431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Solution Walkthrough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240280"/>
            <a:ext cx="6400800" cy="0"/>
          </a:xfrm>
          <a:prstGeom prst="line">
            <a:avLst/>
          </a:prstGeom>
          <a:noFill/>
          <a:ln w="25400">
            <a:solidFill>
              <a:srgbClr val="0D8A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Strategic Insights  ·  Corporate Segment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154680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1272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1: Data Cleaning, Formatting &amp; Reporting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3566160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35387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2: Pivot-based Profit &amp; Loss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44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Largest Retail Chain  ·  8 Regions  ·  3,076 Corporate Orders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Asked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43000"/>
            <a:ext cx="12801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143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4480560" cy="502920"/>
          </a:xfrm>
          <a:prstGeom prst="rect">
            <a:avLst/>
          </a:prstGeom>
          <a:solidFill>
            <a:srgbClr val="D6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143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format and build a structured report for the Corporate customer segment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984248"/>
            <a:ext cx="12801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9842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984248"/>
            <a:ext cx="4480560" cy="502920"/>
          </a:xfrm>
          <a:prstGeom prst="rect">
            <a:avLst/>
          </a:prstGeom>
          <a:solidFill>
            <a:srgbClr val="D6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984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Pivot Tables to identify top-3 profitable and most loss-making sub-categories by region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2825496"/>
            <a:ext cx="12801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28254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825496"/>
            <a:ext cx="4480560" cy="502920"/>
          </a:xfrm>
          <a:prstGeom prst="rect">
            <a:avLst/>
          </a:prstGeom>
          <a:solidFill>
            <a:srgbClr val="D6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8254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— 8 Regions, 13 Provinces, 17 Product Sub-categories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3666744"/>
            <a:ext cx="12801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366674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Focus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3666744"/>
            <a:ext cx="4480560" cy="502920"/>
          </a:xfrm>
          <a:prstGeom prst="rect">
            <a:avLst/>
          </a:prstGeom>
          <a:solidFill>
            <a:srgbClr val="D6F0E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6667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only · 3,076 orders · $5.5M total sales · $599K total profit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&amp; 2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&amp; Filtering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Structured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Made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43000"/>
            <a:ext cx="109728" cy="4572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Widths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widened for readability; no truncated 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847088"/>
            <a:ext cx="109728" cy="457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847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Formatting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8470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coloured with a fill; borders applied to every header cell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551176"/>
            <a:ext cx="109728" cy="4572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5511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551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worksheets created: Corporate, Consumer, Home Office, Small Business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255264"/>
            <a:ext cx="109728" cy="457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2552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Split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2552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segment's orders copied into its own dedicated sheet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3959352"/>
            <a:ext cx="109728" cy="4572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9593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Sheet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9593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subsequent work performed exclusively on the Corporate worksheet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Making 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Formatting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Applied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70432"/>
            <a:ext cx="260604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170432"/>
            <a:ext cx="2606040" cy="27432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2435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Header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5361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 frozen so headers remain visible while scrolling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2267712"/>
            <a:ext cx="260604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3154680" y="2267712"/>
            <a:ext cx="2606040" cy="27432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23408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Columns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6334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Non-essential columns deleted/hidden (e.g. Customer Segment — all rows are Corporate)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3364992"/>
            <a:ext cx="260604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154680" y="3364992"/>
            <a:ext cx="2606040" cy="27432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34381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7307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1 decimal; formatted as US dollars ($)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0" y="1170432"/>
            <a:ext cx="292608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989320" y="1170432"/>
            <a:ext cx="2926080" cy="274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536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&amp; Ship Date reformatted to readable format e.g. 15-Jan 2012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267712"/>
            <a:ext cx="292608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267712"/>
            <a:ext cx="2926080" cy="274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340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Base Margin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26334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profitability calculations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364992"/>
            <a:ext cx="2926080" cy="960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5989320" y="3364992"/>
            <a:ext cx="2926080" cy="274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7307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integer — no rounding needed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Making II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Highlighting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Conditional Formatting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97280"/>
            <a:ext cx="2743200" cy="1691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APPLIED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Alphabetically by Region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Within Region: by Province A→Z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Within Province: Sales High→Low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834640" cy="1691640"/>
          </a:xfrm>
          <a:prstGeom prst="rect">
            <a:avLst/>
          </a:prstGeom>
          <a:solidFill>
            <a:srgbClr val="EBF8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097280"/>
            <a:ext cx="2834640" cy="2743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 — 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50876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orders by Sales within each Region→Province highlighted with light green fill and dark green border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576072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154680" y="2971800"/>
            <a:ext cx="5760720" cy="27432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 — II  (Profit Heat Scale)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429000"/>
            <a:ext cx="493776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785616" y="3429000"/>
            <a:ext cx="493776" cy="411480"/>
          </a:xfrm>
          <a:prstGeom prst="rect">
            <a:avLst/>
          </a:prstGeom>
          <a:solidFill>
            <a:srgbClr val="E05757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9392" y="3429000"/>
            <a:ext cx="493776" cy="411480"/>
          </a:xfrm>
          <a:prstGeom prst="rect">
            <a:avLst/>
          </a:prstGeom>
          <a:solidFill>
            <a:srgbClr val="E8808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3429000"/>
            <a:ext cx="493776" cy="411480"/>
          </a:xfrm>
          <a:prstGeom prst="rect">
            <a:avLst/>
          </a:prstGeom>
          <a:solidFill>
            <a:srgbClr val="F0A0A0"/>
          </a:solidFill>
          <a:ln/>
        </p:spPr>
      </p:sp>
      <p:sp>
        <p:nvSpPr>
          <p:cNvPr id="27" name="Shape 25"/>
          <p:cNvSpPr/>
          <p:nvPr/>
        </p:nvSpPr>
        <p:spPr>
          <a:xfrm>
            <a:off x="5266944" y="3429000"/>
            <a:ext cx="493776" cy="41148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3429000"/>
            <a:ext cx="493776" cy="4114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254496" y="3429000"/>
            <a:ext cx="493776" cy="411480"/>
          </a:xfrm>
          <a:prstGeom prst="rect">
            <a:avLst/>
          </a:prstGeom>
          <a:solidFill>
            <a:srgbClr val="C8E8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748272" y="3429000"/>
            <a:ext cx="493776" cy="411480"/>
          </a:xfrm>
          <a:prstGeom prst="rect">
            <a:avLst/>
          </a:prstGeom>
          <a:solidFill>
            <a:srgbClr val="90D0B0"/>
          </a:solidFill>
          <a:ln/>
        </p:spPr>
      </p:sp>
      <p:sp>
        <p:nvSpPr>
          <p:cNvPr id="31" name="Shape 29"/>
          <p:cNvSpPr/>
          <p:nvPr/>
        </p:nvSpPr>
        <p:spPr>
          <a:xfrm>
            <a:off x="7242048" y="3429000"/>
            <a:ext cx="493776" cy="411480"/>
          </a:xfrm>
          <a:prstGeom prst="rect">
            <a:avLst/>
          </a:prstGeom>
          <a:solidFill>
            <a:srgbClr val="50B88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35824" y="3429000"/>
            <a:ext cx="493776" cy="411480"/>
          </a:xfrm>
          <a:prstGeom prst="rect">
            <a:avLst/>
          </a:prstGeom>
          <a:solidFill>
            <a:srgbClr val="22885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Loss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39136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Finalization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Borders &amp;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Formatting Steps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70432"/>
            <a:ext cx="576072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170432"/>
            <a:ext cx="73152" cy="105156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075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Bottom Borders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6276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last row of each Region group to visually demarcate region boundaries. Makes the report easy to scan across 8 regions.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404872"/>
            <a:ext cx="576072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3154680" y="2404872"/>
            <a:ext cx="73152" cy="10515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5420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 Optimisation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8620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widths and print area adjusted to minimise number of printed pages. Landscape orientation selected for wide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3639312"/>
            <a:ext cx="576072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154680" y="3639312"/>
            <a:ext cx="73152" cy="105156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7764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Protection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40965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protected with a password to prevent accidental edits while allowing managers to view and filter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High-Profit Categories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Profitable Sub-Categories by Region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097280"/>
          <a:ext cx="576072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1417320"/>
                <a:gridCol w="7772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#1 Sub-Category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 ($)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#2 Sub-Category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#3 Sub-Category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Office Machines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$24,336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Binders &amp; Binder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Northwest Territories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$11,577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Chairs &amp; Chairmats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Copiers and Fax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Nunavut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$1,242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Computer Peripherals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Envelopes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Ontario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Binders &amp; Binder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$30,614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Office Machines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Prarie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Office Machines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$91,914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Computer Peripherals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Quebec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Office Machines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$14,107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Chairs &amp; Chairmats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Binders &amp; Binder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Binders &amp; Binder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$43,849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Office Machines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Yukon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Telephones &amp; Comm.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C38"/>
                          </a:solidFill>
                        </a:rPr>
                        <a:t>$11,421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Appliances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Binders &amp; Binder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Categories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3200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"/>
            <a:ext cx="1463040" cy="292608"/>
          </a:xfrm>
          <a:prstGeom prst="rect">
            <a:avLst>
              <a:gd name="adj" fmla="val 15625"/>
            </a:avLst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228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594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Loss-Making Sub-Categories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54680" y="1024128"/>
            <a:ext cx="576072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43000"/>
            <a:ext cx="5760720" cy="658368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143000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216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-$35,431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regions: Ontario (-$16,169)  ·  Quebec (-$6,563)  ·  Atlantic (-$4,577)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4680" y="1911096"/>
            <a:ext cx="5760720" cy="6583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3154680" y="1911096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1984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21808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-$9,306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2768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regions: Quebec (-$11,367)  ·  NW Territories (-$3,270)  ·  Ontario (-$2,933)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2679192"/>
            <a:ext cx="5760720" cy="658368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54680" y="2679192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752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Scissors, Rulers &amp; Trim.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7523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-$3,331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3044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regions: Nunavut (-$1,760)  ·  Prarie (-$482)  ·  Quebec (-$359)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3447288"/>
            <a:ext cx="5760720" cy="6583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3447288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520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Organization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1808" y="3520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-$2,087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8130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regions: Atlantic (-$7,288)  ·  Yukon (-$3,291)  ·  Quebec (-$2,369)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54680" y="4215384"/>
            <a:ext cx="5760720" cy="658368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32" name="Shape 30"/>
          <p:cNvSpPr/>
          <p:nvPr/>
        </p:nvSpPr>
        <p:spPr>
          <a:xfrm>
            <a:off x="3154680" y="4215384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4288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42885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-$354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45811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regions: West (-$119)  ·  Prarie (-$94)  ·  Quebec (-$84)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·  Profit by Sub-Category (Corporate Segment)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8595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GROW THESE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84048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Machines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 profit — #1 in Prarie &amp; Atlantic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384048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 &amp; Accessories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$126K profit — dominant in West &amp; Ontario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384048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Telephones &amp; Comm.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82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$121K profit — top performer in 4 regions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712464"/>
            <a:ext cx="384048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58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profit — strong growth potential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REVIEW / DISCONTINUE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206240" cy="640080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-$35,431 · Loss in 6 of 8 regions · Ontario worst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212848"/>
            <a:ext cx="4206240" cy="640080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258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532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-$9,306 · Mainly Quebec drag · review pricing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206240" cy="640080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08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Scissors/Rulers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-$3,331 · Nunavut &amp; Prarie loss centres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712464"/>
            <a:ext cx="4206240" cy="640080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58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Org.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-$2,087 · Profitable in West/Prarie 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Tables &amp; Chairs are complementary products — regional discontinuation strategy recommended over blanket removal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- Solution Walkthrough</dc:title>
  <dc:subject>PptxGenJS Presentation</dc:subject>
  <dc:creator>PptxGenJS</dc:creator>
  <cp:lastModifiedBy>PptxGenJS</cp:lastModifiedBy>
  <cp:revision>1</cp:revision>
  <dcterms:created xsi:type="dcterms:W3CDTF">2026-05-09T18:43:18Z</dcterms:created>
  <dcterms:modified xsi:type="dcterms:W3CDTF">2026-05-09T18:43:18Z</dcterms:modified>
</cp:coreProperties>
</file>